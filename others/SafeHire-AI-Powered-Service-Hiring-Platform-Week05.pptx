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5"/>
  </p:notesMasterIdLst>
  <p:handoutMasterIdLst>
    <p:handoutMasterId r:id="rId26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  <p:sldId id="323" r:id="rId18"/>
    <p:sldId id="324" r:id="rId19"/>
    <p:sldId id="325" r:id="rId20"/>
    <p:sldId id="326" r:id="rId21"/>
    <p:sldId id="327" r:id="rId22"/>
    <p:sldId id="328" r:id="rId23"/>
    <p:sldId id="329" r:id="rId2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B2C48-B258-43BF-84BE-6BE903781990}" v="437" dt="2026-04-05T21:46:01.612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88" autoAdjust="0"/>
  </p:normalViewPr>
  <p:slideViewPr>
    <p:cSldViewPr snapToGrid="0" snapToObjects="1">
      <p:cViewPr varScale="1">
        <p:scale>
          <a:sx n="85" d="100"/>
          <a:sy n="85" d="100"/>
        </p:scale>
        <p:origin x="336" y="53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-1443318"/>
            <a:ext cx="6392421" cy="5325035"/>
          </a:xfrm>
        </p:spPr>
        <p:txBody>
          <a:bodyPr anchor="ctr"/>
          <a:lstStyle/>
          <a:p>
            <a:r>
              <a:rPr lang="en-US" b="0" i="0" dirty="0" err="1">
                <a:solidFill>
                  <a:schemeClr val="tx1"/>
                </a:solidFill>
                <a:effectLst/>
              </a:rPr>
              <a:t>SafeHire</a:t>
            </a:r>
            <a:r>
              <a:rPr lang="en-US" b="0" i="0" dirty="0">
                <a:solidFill>
                  <a:schemeClr val="tx1"/>
                </a:solidFill>
                <a:effectLst/>
              </a:rPr>
              <a:t> – An AI-Powered Service Hiring Platform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65D1FA-314B-4BB5-8567-8118FDB05039}"/>
              </a:ext>
            </a:extLst>
          </p:cNvPr>
          <p:cNvSpPr txBox="1"/>
          <p:nvPr/>
        </p:nvSpPr>
        <p:spPr>
          <a:xfrm>
            <a:off x="5100916" y="2357716"/>
            <a:ext cx="283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i="0" dirty="0">
                <a:effectLst/>
                <a:latin typeface="Segoe UI Historic" panose="020B0502040204020203" pitchFamily="34" charset="0"/>
              </a:rPr>
              <a:t>CSE299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62DAE2-F4BE-41CE-A9A4-7A289E714C97}"/>
              </a:ext>
            </a:extLst>
          </p:cNvPr>
          <p:cNvSpPr txBox="1"/>
          <p:nvPr/>
        </p:nvSpPr>
        <p:spPr>
          <a:xfrm>
            <a:off x="3541059" y="6137228"/>
            <a:ext cx="71807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 i="0" u="none" strike="noStrike" dirty="0" err="1">
                <a:solidFill>
                  <a:srgbClr val="E2E5E9"/>
                </a:solidFill>
                <a:effectLst/>
                <a:latin typeface="inherit"/>
              </a:rPr>
              <a:t>Afridur</a:t>
            </a:r>
            <a:r>
              <a:rPr lang="en-US" sz="2000" b="0" i="0" u="none" strike="noStrike" dirty="0">
                <a:solidFill>
                  <a:srgbClr val="E2E5E9"/>
                </a:solidFill>
                <a:effectLst/>
                <a:latin typeface="inherit"/>
              </a:rPr>
              <a:t> Rahman Khan </a:t>
            </a:r>
            <a:r>
              <a:rPr lang="en-US" sz="2000" b="0" i="0" u="none" strike="noStrike" dirty="0" err="1">
                <a:solidFill>
                  <a:srgbClr val="E2E5E9"/>
                </a:solidFill>
                <a:effectLst/>
                <a:latin typeface="inherit"/>
              </a:rPr>
              <a:t>Mim</a:t>
            </a:r>
            <a:r>
              <a:rPr lang="en-US" sz="2000" b="0" i="0" u="none" strike="noStrike" dirty="0">
                <a:solidFill>
                  <a:srgbClr val="E2E5E9"/>
                </a:solidFill>
                <a:effectLst/>
                <a:latin typeface="inherit"/>
              </a:rPr>
              <a:t> | </a:t>
            </a:r>
            <a:r>
              <a:rPr lang="en-US" sz="2000" b="0" i="0" u="none" strike="noStrike" dirty="0" err="1">
                <a:solidFill>
                  <a:srgbClr val="E2E5E9"/>
                </a:solidFill>
                <a:effectLst/>
                <a:latin typeface="inherit"/>
              </a:rPr>
              <a:t>Nazia</a:t>
            </a:r>
            <a:r>
              <a:rPr lang="en-US" sz="2000" b="0" i="0" u="none" strike="noStrike" dirty="0">
                <a:solidFill>
                  <a:srgbClr val="E2E5E9"/>
                </a:solidFill>
                <a:effectLst/>
                <a:latin typeface="inherit"/>
              </a:rPr>
              <a:t> </a:t>
            </a:r>
            <a:r>
              <a:rPr lang="en-US" sz="2000" b="0" i="0" u="none" strike="noStrike" dirty="0" err="1">
                <a:solidFill>
                  <a:srgbClr val="E2E5E9"/>
                </a:solidFill>
                <a:effectLst/>
                <a:latin typeface="inherit"/>
              </a:rPr>
              <a:t>Faruque</a:t>
            </a:r>
            <a:r>
              <a:rPr lang="en-US" sz="2000" b="0" i="0" u="none" strike="noStrike" dirty="0">
                <a:solidFill>
                  <a:srgbClr val="E2E5E9"/>
                </a:solidFill>
                <a:effectLst/>
                <a:latin typeface="inherit"/>
              </a:rPr>
              <a:t> Diya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696" y="281605"/>
            <a:ext cx="6187111" cy="679149"/>
          </a:xfrm>
        </p:spPr>
        <p:txBody>
          <a:bodyPr/>
          <a:lstStyle/>
          <a:p>
            <a:r>
              <a:rPr lang="en-US" sz="3200" i="0" dirty="0">
                <a:solidFill>
                  <a:schemeClr val="tx1"/>
                </a:solidFill>
                <a:effectLst/>
              </a:rPr>
              <a:t>Project Overview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44" y="1160544"/>
            <a:ext cx="4326433" cy="4589299"/>
          </a:xfrm>
        </p:spPr>
        <p:txBody>
          <a:bodyPr vert="horz" lIns="91440" tIns="0" rIns="91440" bIns="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b="0" i="0" dirty="0" err="1">
                <a:solidFill>
                  <a:schemeClr val="tx1"/>
                </a:solidFill>
                <a:effectLst/>
                <a:latin typeface="Arial"/>
                <a:cs typeface="Arial"/>
              </a:rPr>
              <a:t>SafeHire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 is a web-based platform to connect employers with verified workers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latin typeface="Arial"/>
                <a:cs typeface="Arial"/>
              </a:rPr>
              <a:t> 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Focus on trust, safety, and </a:t>
            </a:r>
            <a:r>
              <a:rPr lang="en-US" sz="2200" b="0" i="0">
                <a:solidFill>
                  <a:schemeClr val="tx1"/>
                </a:solidFill>
                <a:effectLst/>
                <a:latin typeface="Arial"/>
                <a:cs typeface="Arial"/>
              </a:rPr>
              <a:t>smart hiring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latin typeface="Arial"/>
                <a:cs typeface="Arial"/>
              </a:rPr>
              <a:t> 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Includes: Worker verification system AI-based job matching Hiring &amp; transaction system.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AD9444-6689-49D0-94E5-CCF2A2AF3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169" y="862516"/>
            <a:ext cx="6461175" cy="52900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E2B01C-DE46-4234-BE25-595C248693CF}"/>
              </a:ext>
            </a:extLst>
          </p:cNvPr>
          <p:cNvSpPr txBox="1"/>
          <p:nvPr/>
        </p:nvSpPr>
        <p:spPr>
          <a:xfrm>
            <a:off x="2923591" y="6343671"/>
            <a:ext cx="6344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dirty="0" err="1">
                <a:effectLst/>
                <a:latin typeface="inherit"/>
              </a:rPr>
              <a:t>Afridur</a:t>
            </a:r>
            <a:r>
              <a:rPr lang="en-US" sz="1800" b="0" i="0" u="none" strike="noStrike" dirty="0">
                <a:effectLst/>
                <a:latin typeface="inherit"/>
              </a:rPr>
              <a:t> Rahman Khan </a:t>
            </a:r>
            <a:r>
              <a:rPr lang="en-US" sz="1800" b="0" i="0" u="none" strike="noStrike" dirty="0" err="1">
                <a:effectLst/>
                <a:latin typeface="inherit"/>
              </a:rPr>
              <a:t>Mim</a:t>
            </a:r>
            <a:r>
              <a:rPr lang="en-US" sz="1800" b="0" i="0" u="none" strike="noStrike" dirty="0">
                <a:effectLst/>
                <a:latin typeface="inherit"/>
              </a:rPr>
              <a:t> | </a:t>
            </a:r>
            <a:r>
              <a:rPr lang="en-US" sz="1800" b="0" i="0" u="none" strike="noStrike" dirty="0" err="1">
                <a:effectLst/>
                <a:latin typeface="inherit"/>
              </a:rPr>
              <a:t>Nazia</a:t>
            </a:r>
            <a:r>
              <a:rPr lang="en-US" sz="1800" b="0" i="0" u="none" strike="noStrike" dirty="0">
                <a:effectLst/>
                <a:latin typeface="inherit"/>
              </a:rPr>
              <a:t> </a:t>
            </a:r>
            <a:r>
              <a:rPr lang="en-US" sz="1800" b="0" i="0" u="none" strike="noStrike" dirty="0" err="1">
                <a:effectLst/>
                <a:latin typeface="inherit"/>
              </a:rPr>
              <a:t>Faruque</a:t>
            </a:r>
            <a:r>
              <a:rPr lang="en-US" sz="1800" b="0" i="0" u="none" strike="noStrike" dirty="0">
                <a:effectLst/>
                <a:latin typeface="inherit"/>
              </a:rPr>
              <a:t>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22" y="210007"/>
            <a:ext cx="9748079" cy="819178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Development Stages Overview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162060-C07E-414D-B665-6139C6967079}"/>
              </a:ext>
            </a:extLst>
          </p:cNvPr>
          <p:cNvSpPr txBox="1"/>
          <p:nvPr/>
        </p:nvSpPr>
        <p:spPr>
          <a:xfrm>
            <a:off x="3480318" y="6027576"/>
            <a:ext cx="469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0" u="none" strike="noStrike" dirty="0" err="1">
                <a:effectLst/>
                <a:latin typeface="inherit"/>
              </a:rPr>
              <a:t>Afridur</a:t>
            </a:r>
            <a:r>
              <a:rPr lang="en-US" sz="1800" b="0" i="0" u="none" strike="noStrike" dirty="0">
                <a:effectLst/>
                <a:latin typeface="inherit"/>
              </a:rPr>
              <a:t> Rahman Khan </a:t>
            </a:r>
            <a:r>
              <a:rPr lang="en-US" sz="1800" b="0" i="0" u="none" strike="noStrike" dirty="0" err="1">
                <a:effectLst/>
                <a:latin typeface="inherit"/>
              </a:rPr>
              <a:t>Mim</a:t>
            </a:r>
            <a:r>
              <a:rPr lang="en-US" sz="1800" b="0" i="0" u="none" strike="noStrike" dirty="0">
                <a:effectLst/>
                <a:latin typeface="inherit"/>
              </a:rPr>
              <a:t> | </a:t>
            </a:r>
            <a:r>
              <a:rPr lang="en-US" sz="1800" b="0" i="0" u="none" strike="noStrike" dirty="0" err="1">
                <a:effectLst/>
                <a:latin typeface="inherit"/>
              </a:rPr>
              <a:t>Nazia</a:t>
            </a:r>
            <a:r>
              <a:rPr lang="en-US" sz="1800" b="0" i="0" u="none" strike="noStrike" dirty="0">
                <a:effectLst/>
                <a:latin typeface="inherit"/>
              </a:rPr>
              <a:t> </a:t>
            </a:r>
            <a:r>
              <a:rPr lang="en-US" sz="1800" b="0" i="0" u="none" strike="noStrike" dirty="0" err="1">
                <a:effectLst/>
                <a:latin typeface="inherit"/>
              </a:rPr>
              <a:t>Faruque</a:t>
            </a:r>
            <a:r>
              <a:rPr lang="en-US" sz="1800" b="0" i="0" u="none" strike="noStrike" dirty="0">
                <a:effectLst/>
                <a:latin typeface="inherit"/>
              </a:rPr>
              <a:t> Diya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45CFA9-CDFD-FF0C-7C54-8E265C7AD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82" y="1036690"/>
            <a:ext cx="11220449" cy="49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33" y="508818"/>
            <a:ext cx="9118714" cy="745845"/>
          </a:xfrm>
        </p:spPr>
        <p:txBody>
          <a:bodyPr/>
          <a:lstStyle/>
          <a:p>
            <a:r>
              <a:rPr lang="en-US" b="0" i="0">
                <a:solidFill>
                  <a:schemeClr val="tx1"/>
                </a:solidFill>
                <a:effectLst/>
              </a:rPr>
              <a:t>Worker Login </a:t>
            </a:r>
            <a:r>
              <a:rPr lang="en-US" b="0">
                <a:solidFill>
                  <a:schemeClr val="tx1"/>
                </a:solidFill>
              </a:rPr>
              <a:t>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155" y="1257581"/>
            <a:ext cx="8911336" cy="1706143"/>
          </a:xfrm>
        </p:spPr>
        <p:txBody>
          <a:bodyPr vert="horz" lIns="91440" tIns="0" rIns="91440" bIns="0" rtlCol="0" anchor="t">
            <a:normAutofit/>
          </a:bodyPr>
          <a:lstStyle/>
          <a:p>
            <a:pPr marL="342900" indent="-342900"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Workers can securely log into the platform 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b="0" i="0">
                <a:solidFill>
                  <a:schemeClr val="tx1"/>
                </a:solidFill>
                <a:effectLst/>
                <a:latin typeface="Arial"/>
                <a:cs typeface="Arial"/>
              </a:rPr>
              <a:t>Authentication using username &amp; </a:t>
            </a:r>
            <a:r>
              <a:rPr lang="en-US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password 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b="0" i="0">
                <a:solidFill>
                  <a:schemeClr val="tx1"/>
                </a:solidFill>
                <a:effectLst/>
                <a:latin typeface="Arial"/>
                <a:cs typeface="Arial"/>
              </a:rPr>
              <a:t>Role-based login 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b="0" i="0">
                <a:solidFill>
                  <a:schemeClr val="tx1"/>
                </a:solidFill>
                <a:effectLst/>
                <a:latin typeface="Arial"/>
                <a:cs typeface="Arial"/>
              </a:rPr>
              <a:t>Redirects to dashboard after successful login.</a:t>
            </a:r>
            <a:endParaRPr lang="en-US">
              <a:solidFill>
                <a:schemeClr val="tx1"/>
              </a:solidFill>
              <a:cs typeface="Sabon Next 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DD2431-0A85-4F8D-B1A2-1768B2CE0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5" y="2974494"/>
            <a:ext cx="3119958" cy="3510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3FB519-C7FB-44BD-A77F-14DC7E435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040" y="2958746"/>
            <a:ext cx="3569153" cy="35298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94A45F-76D2-4512-83F1-76197E5EE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7656" y="2958745"/>
            <a:ext cx="3565650" cy="35296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277958-229D-4924-A712-3F31857A9C2B}"/>
              </a:ext>
            </a:extLst>
          </p:cNvPr>
          <p:cNvSpPr txBox="1"/>
          <p:nvPr/>
        </p:nvSpPr>
        <p:spPr>
          <a:xfrm>
            <a:off x="3480318" y="6488668"/>
            <a:ext cx="469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0" u="none" strike="noStrike" dirty="0" err="1">
                <a:effectLst/>
                <a:latin typeface="inherit"/>
              </a:rPr>
              <a:t>Afridur</a:t>
            </a:r>
            <a:r>
              <a:rPr lang="en-US" sz="1800" b="0" i="0" u="none" strike="noStrike" dirty="0">
                <a:effectLst/>
                <a:latin typeface="inherit"/>
              </a:rPr>
              <a:t> Rahman Khan </a:t>
            </a:r>
            <a:r>
              <a:rPr lang="en-US" sz="1800" b="0" i="0" u="none" strike="noStrike" dirty="0" err="1">
                <a:effectLst/>
                <a:latin typeface="inherit"/>
              </a:rPr>
              <a:t>Mim</a:t>
            </a:r>
            <a:r>
              <a:rPr lang="en-US" sz="1800" b="0" i="0" u="none" strike="noStrike" dirty="0">
                <a:effectLst/>
                <a:latin typeface="inherit"/>
              </a:rPr>
              <a:t> | </a:t>
            </a:r>
            <a:r>
              <a:rPr lang="en-US" sz="1800" b="0" i="0" u="none" strike="noStrike" dirty="0" err="1">
                <a:effectLst/>
                <a:latin typeface="inherit"/>
              </a:rPr>
              <a:t>Nazia</a:t>
            </a:r>
            <a:r>
              <a:rPr lang="en-US" sz="1800" b="0" i="0" u="none" strike="noStrike" dirty="0">
                <a:effectLst/>
                <a:latin typeface="inherit"/>
              </a:rPr>
              <a:t> </a:t>
            </a:r>
            <a:r>
              <a:rPr lang="en-US" sz="1800" b="0" i="0" u="none" strike="noStrike" dirty="0" err="1">
                <a:effectLst/>
                <a:latin typeface="inherit"/>
              </a:rPr>
              <a:t>Faruque</a:t>
            </a:r>
            <a:r>
              <a:rPr lang="en-US" sz="1800" b="0" i="0" u="none" strike="noStrike" dirty="0">
                <a:effectLst/>
                <a:latin typeface="inherit"/>
              </a:rPr>
              <a:t>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555" y="-348160"/>
            <a:ext cx="10706201" cy="920423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Worker Dashboard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4493" y="570040"/>
            <a:ext cx="8790214" cy="1579269"/>
          </a:xfrm>
        </p:spPr>
        <p:txBody>
          <a:bodyPr vert="horz" lIns="91440" tIns="0" rIns="91440" bIns="0" rtlCol="0" anchor="t">
            <a:noAutofit/>
          </a:bodyPr>
          <a:lstStyle/>
          <a:p>
            <a:pPr marL="347345" indent="-347345"/>
            <a:r>
              <a:rPr lang="en-US" sz="2000" b="1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Central interface for workers after login Displays: Assigned jobs</a:t>
            </a:r>
          </a:p>
          <a:p>
            <a:pPr marL="347345" indent="-347345"/>
            <a:r>
              <a:rPr lang="en-US" sz="2000" b="1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 Job status (Open / Assigned / Completed)</a:t>
            </a:r>
          </a:p>
          <a:p>
            <a:pPr marL="347345" indent="-347345"/>
            <a:r>
              <a:rPr lang="en-US" sz="2000" b="1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 Workers can: View job details , Track progress </a:t>
            </a:r>
          </a:p>
          <a:p>
            <a:pPr marL="347345" indent="-347345"/>
            <a:r>
              <a:rPr lang="en-US" sz="2000" b="1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User-friendly and responsive design</a:t>
            </a:r>
            <a:endParaRPr lang="en-US" sz="20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C33F71-95EE-4CC4-B46A-8385E229D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90" y="2272212"/>
            <a:ext cx="9259465" cy="41589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2C331A-E293-4CC1-8569-03FF74999BE8}"/>
              </a:ext>
            </a:extLst>
          </p:cNvPr>
          <p:cNvSpPr txBox="1"/>
          <p:nvPr/>
        </p:nvSpPr>
        <p:spPr>
          <a:xfrm>
            <a:off x="4045671" y="6488668"/>
            <a:ext cx="469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0" u="none" strike="noStrike" dirty="0" err="1">
                <a:effectLst/>
                <a:latin typeface="inherit"/>
              </a:rPr>
              <a:t>Afridur</a:t>
            </a:r>
            <a:r>
              <a:rPr lang="en-US" sz="1800" b="0" i="0" u="none" strike="noStrike" dirty="0">
                <a:effectLst/>
                <a:latin typeface="inherit"/>
              </a:rPr>
              <a:t> Rahman Khan </a:t>
            </a:r>
            <a:r>
              <a:rPr lang="en-US" sz="1800" b="0" i="0" u="none" strike="noStrike" dirty="0" err="1">
                <a:effectLst/>
                <a:latin typeface="inherit"/>
              </a:rPr>
              <a:t>Mim</a:t>
            </a:r>
            <a:r>
              <a:rPr lang="en-US" sz="1800" b="0" i="0" u="none" strike="noStrike" dirty="0">
                <a:effectLst/>
                <a:latin typeface="inherit"/>
              </a:rPr>
              <a:t> | </a:t>
            </a:r>
            <a:r>
              <a:rPr lang="en-US" sz="1800" b="0" i="0" u="none" strike="noStrike" dirty="0" err="1">
                <a:effectLst/>
                <a:latin typeface="inherit"/>
              </a:rPr>
              <a:t>Nazia</a:t>
            </a:r>
            <a:r>
              <a:rPr lang="en-US" sz="1800" b="0" i="0" u="none" strike="noStrike" dirty="0">
                <a:effectLst/>
                <a:latin typeface="inherit"/>
              </a:rPr>
              <a:t> </a:t>
            </a:r>
            <a:r>
              <a:rPr lang="en-US" sz="1800" b="0" i="0" u="none" strike="noStrike" dirty="0" err="1">
                <a:effectLst/>
                <a:latin typeface="inherit"/>
              </a:rPr>
              <a:t>Faruque</a:t>
            </a:r>
            <a:r>
              <a:rPr lang="en-US" sz="1800" b="0" i="0" u="none" strike="noStrike" dirty="0">
                <a:effectLst/>
                <a:latin typeface="inherit"/>
              </a:rPr>
              <a:t>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35" y="-419612"/>
            <a:ext cx="14122842" cy="1114511"/>
          </a:xfrm>
        </p:spPr>
        <p:txBody>
          <a:bodyPr/>
          <a:lstStyle/>
          <a:p>
            <a:r>
              <a:rPr lang="en-US" b="0">
                <a:solidFill>
                  <a:schemeClr val="tx1"/>
                </a:solidFill>
              </a:rPr>
              <a:t>            </a:t>
            </a:r>
            <a:r>
              <a:rPr lang="en-US" b="0" i="0">
                <a:solidFill>
                  <a:schemeClr val="tx1"/>
                </a:solidFill>
                <a:effectLst/>
              </a:rPr>
              <a:t>Worker Registration System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481631" y="688814"/>
            <a:ext cx="6458059" cy="2050061"/>
          </a:xfrm>
        </p:spPr>
        <p:txBody>
          <a:bodyPr vert="horz" lIns="91440" tIns="0" rIns="91440" bIns="0" rtlCol="0" anchor="t">
            <a:normAutofit fontScale="92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Workers can register with: Name, Skills, NID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b="1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Backend stores worker data using database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b="1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Duplicate NID prevention implemented</a:t>
            </a:r>
          </a:p>
          <a:p>
            <a:b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53D59A-5B6F-4417-ABEE-606AD45C0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73" y="2283469"/>
            <a:ext cx="4007283" cy="40673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98DB55-2222-4448-AFC2-F51D34CE7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304" y="2278344"/>
            <a:ext cx="3773767" cy="4070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4CF471-A6FA-479B-A8DB-285AEEED66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1368" y="2284134"/>
            <a:ext cx="3909510" cy="40837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57D907-FC7F-3468-440A-30F8EDDBD336}"/>
              </a:ext>
            </a:extLst>
          </p:cNvPr>
          <p:cNvSpPr txBox="1"/>
          <p:nvPr/>
        </p:nvSpPr>
        <p:spPr>
          <a:xfrm>
            <a:off x="3814221" y="6504445"/>
            <a:ext cx="69096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Afridur</a:t>
            </a:r>
            <a:r>
              <a:rPr lang="en-US" dirty="0">
                <a:ea typeface="+mn-lt"/>
                <a:cs typeface="+mn-lt"/>
              </a:rPr>
              <a:t> Rahman Khan Mim | Nazia Faruque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670" y="0"/>
            <a:ext cx="7796464" cy="577844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Admin Dashboard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1670" y="710952"/>
            <a:ext cx="8339998" cy="827371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The Admin Dashboard is the central control panel of the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Arial"/>
                <a:cs typeface="Arial"/>
              </a:rPr>
              <a:t>SafeHire</a:t>
            </a:r>
            <a:r>
              <a:rPr lang="en-US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 system. It allows administrators to monitor platform activities, manage users, and ensure system integrity.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A13622-CD74-4F36-B9F2-80564261DA39}"/>
              </a:ext>
            </a:extLst>
          </p:cNvPr>
          <p:cNvSpPr txBox="1"/>
          <p:nvPr/>
        </p:nvSpPr>
        <p:spPr>
          <a:xfrm>
            <a:off x="591670" y="1710387"/>
            <a:ext cx="5283973" cy="47328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b="1" dirty="0">
                <a:latin typeface="Arial"/>
                <a:cs typeface="Arial"/>
              </a:rPr>
              <a:t>Key Features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cs typeface="Arial"/>
              </a:rPr>
              <a:t> User Management 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View and manage all registered workers and employers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cs typeface="Arial"/>
              </a:rPr>
              <a:t>Worker Verification System:</a:t>
            </a:r>
          </a:p>
          <a:p>
            <a:r>
              <a:rPr lang="en-US" sz="1600" dirty="0">
                <a:latin typeface="Arial"/>
                <a:cs typeface="Arial"/>
              </a:rPr>
              <a:t>     Approve or reject worker profiles based on submitted   information.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cs typeface="Arial"/>
              </a:rPr>
              <a:t>Job Monitoring</a:t>
            </a:r>
          </a:p>
          <a:p>
            <a:r>
              <a:rPr lang="en-US" sz="1600" dirty="0">
                <a:latin typeface="Arial"/>
                <a:cs typeface="Arial"/>
              </a:rPr>
              <a:t>   Track all posted jobs and their current status (Open, Assigned,    Completed)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cs typeface="Arial"/>
              </a:rPr>
              <a:t>Transaction Managemen</a:t>
            </a:r>
            <a:r>
              <a:rPr lang="en-US" sz="1600" dirty="0">
                <a:latin typeface="Arial"/>
                <a:cs typeface="Arial"/>
              </a:rPr>
              <a:t>t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Monitor all hiring transactions and payment status.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cs typeface="Arial"/>
              </a:rPr>
              <a:t>Review &amp; Rating Oversight</a:t>
            </a:r>
          </a:p>
          <a:p>
            <a:r>
              <a:rPr lang="en-US" sz="1600" dirty="0">
                <a:latin typeface="Arial"/>
                <a:cs typeface="Arial"/>
              </a:rPr>
              <a:t>View feedback given to workers to maintain service quality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461E3A-DA41-48B6-BACB-0431032D7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355" y="1704667"/>
            <a:ext cx="6538835" cy="44256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8A45EC-C5BC-6EB0-B509-531742C2D414}"/>
              </a:ext>
            </a:extLst>
          </p:cNvPr>
          <p:cNvSpPr txBox="1"/>
          <p:nvPr/>
        </p:nvSpPr>
        <p:spPr>
          <a:xfrm>
            <a:off x="3814036" y="6406124"/>
            <a:ext cx="619677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Afridur</a:t>
            </a:r>
            <a:r>
              <a:rPr lang="en-US" dirty="0">
                <a:ea typeface="+mn-lt"/>
                <a:cs typeface="+mn-lt"/>
              </a:rPr>
              <a:t> Rahman Khan Mim | Nazia Faruque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7466" y="-159774"/>
            <a:ext cx="11650643" cy="1091627"/>
          </a:xfrm>
        </p:spPr>
        <p:txBody>
          <a:bodyPr/>
          <a:lstStyle/>
          <a:p>
            <a:r>
              <a:rPr lang="en-US" b="0">
                <a:solidFill>
                  <a:schemeClr val="tx1"/>
                </a:solidFill>
                <a:latin typeface="Arial Black"/>
              </a:rPr>
              <a:t>            </a:t>
            </a:r>
            <a:r>
              <a:rPr lang="en-US" b="0" i="0">
                <a:solidFill>
                  <a:schemeClr val="tx1"/>
                </a:solidFill>
                <a:effectLst/>
                <a:latin typeface="Arial Black"/>
              </a:rPr>
              <a:t>Worker Verification System</a:t>
            </a:r>
            <a:endParaRPr lang="en-US">
              <a:solidFill>
                <a:schemeClr val="tx1"/>
              </a:solidFill>
              <a:latin typeface="Arial Black"/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3012" y="1420385"/>
            <a:ext cx="9545242" cy="1210702"/>
          </a:xfrm>
        </p:spPr>
        <p:txBody>
          <a:bodyPr vert="horz" lIns="91440" tIns="0" rIns="91440" bIns="0" rtlCol="0" anchor="t">
            <a:noAutofit/>
          </a:bodyPr>
          <a:lstStyle/>
          <a:p>
            <a:pPr marL="342900" indent="-342900"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Admin verifies workers: Pending → Verified / Rejected </a:t>
            </a:r>
            <a:endParaRPr lang="en-US" sz="2000">
              <a:solidFill>
                <a:schemeClr val="tx1"/>
              </a:solidFill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0" i="0">
                <a:solidFill>
                  <a:schemeClr val="tx1"/>
                </a:solidFill>
                <a:effectLst/>
                <a:latin typeface="Arial"/>
                <a:cs typeface="Arial"/>
              </a:rPr>
              <a:t>Improves platform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trust Status badge system implemented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7DC45D-46FD-4CAB-8F40-F55463EBC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12" y="2462857"/>
            <a:ext cx="9708776" cy="37010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7AC2FF-E850-F842-CB4B-A9F0CB898C91}"/>
              </a:ext>
            </a:extLst>
          </p:cNvPr>
          <p:cNvSpPr txBox="1"/>
          <p:nvPr/>
        </p:nvSpPr>
        <p:spPr>
          <a:xfrm>
            <a:off x="3052593" y="6449166"/>
            <a:ext cx="62705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Afridur</a:t>
            </a:r>
            <a:r>
              <a:rPr lang="en-US" dirty="0">
                <a:ea typeface="+mn-lt"/>
                <a:cs typeface="+mn-lt"/>
              </a:rPr>
              <a:t> Rahman Khan Mim | Nazia Faruque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19" y="-81099"/>
            <a:ext cx="7843837" cy="1012782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Employer Sign Up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4019" y="962435"/>
            <a:ext cx="6116496" cy="5012301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Employer Sign Up allows users to create an account to post jobs and hire workers on the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SafeHire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platform.</a:t>
            </a: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Arial"/>
                <a:cs typeface="Arial"/>
              </a:rPr>
              <a:t>Key Features: </a:t>
            </a:r>
          </a:p>
          <a:p>
            <a:pPr marL="342900" indent="-342900">
              <a:buChar char="•"/>
            </a:pP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Registration Form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Employers enter username and password to create    an account.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Arial"/>
                <a:cs typeface="Arial"/>
              </a:rPr>
              <a:t> Secure Authentication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User credentials are stored securely in the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Arial"/>
                <a:cs typeface="Arial"/>
              </a:rPr>
              <a:t>Quick Access Setup.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Arial"/>
                <a:cs typeface="Arial"/>
              </a:rPr>
              <a:t>Simple and fast registration process.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BE794C-C823-4620-88BA-ED9E55059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953" y="162206"/>
            <a:ext cx="4203804" cy="31033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00D044-BF82-4A7F-8A72-579A002CB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244" y="3280415"/>
            <a:ext cx="4191512" cy="31203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2D88D4-3913-3DFE-4671-467F563E1E7B}"/>
              </a:ext>
            </a:extLst>
          </p:cNvPr>
          <p:cNvSpPr txBox="1"/>
          <p:nvPr/>
        </p:nvSpPr>
        <p:spPr>
          <a:xfrm>
            <a:off x="2425434" y="6400041"/>
            <a:ext cx="58526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Afridur</a:t>
            </a:r>
            <a:r>
              <a:rPr lang="en-US" dirty="0">
                <a:ea typeface="+mn-lt"/>
                <a:cs typeface="+mn-lt"/>
              </a:rPr>
              <a:t> Rahman Khan Mim | Nazia Faruque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246" y="-352880"/>
            <a:ext cx="9879437" cy="980844"/>
          </a:xfrm>
        </p:spPr>
        <p:txBody>
          <a:bodyPr/>
          <a:lstStyle/>
          <a:p>
            <a:r>
              <a:rPr lang="en-US" b="0" i="0">
                <a:solidFill>
                  <a:schemeClr val="tx1"/>
                </a:solidFill>
                <a:effectLst/>
              </a:rPr>
              <a:t>Job Posting System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3063" y="929698"/>
            <a:ext cx="5728249" cy="2182350"/>
          </a:xfrm>
        </p:spPr>
        <p:txBody>
          <a:bodyPr/>
          <a:lstStyle/>
          <a:p>
            <a:r>
              <a:rPr lang="en-US" sz="2400" b="1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Employers can: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Post jobs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 Define required skills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Jobs stored in database</a:t>
            </a:r>
            <a:endParaRPr lang="en-US" sz="24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F19191-97C0-4835-94AC-3E82884B0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879" y="3292390"/>
            <a:ext cx="4709362" cy="31483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5AA038-32EF-45E2-AA29-652ACD641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612" y="3291841"/>
            <a:ext cx="4931818" cy="31444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C71A21-C870-EA8D-0A52-82F7CB6F8E83}"/>
              </a:ext>
            </a:extLst>
          </p:cNvPr>
          <p:cNvSpPr txBox="1"/>
          <p:nvPr/>
        </p:nvSpPr>
        <p:spPr>
          <a:xfrm>
            <a:off x="2561092" y="6442919"/>
            <a:ext cx="57420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Afridur</a:t>
            </a:r>
            <a:r>
              <a:rPr lang="en-US" dirty="0">
                <a:ea typeface="+mn-lt"/>
                <a:cs typeface="+mn-lt"/>
              </a:rPr>
              <a:t> Rahman Khan Mim | Nazia Faruque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7296" y="-60997"/>
            <a:ext cx="9875463" cy="999746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 AI-Based Job Matching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86769" y="744325"/>
            <a:ext cx="6443662" cy="1694076"/>
          </a:xfrm>
        </p:spPr>
        <p:txBody>
          <a:bodyPr vert="horz" lIns="91440" tIns="0" rIns="91440" bIns="0" rtlCol="0" anchor="t">
            <a:normAutofit fontScale="92500" lnSpcReduction="20000"/>
          </a:bodyPr>
          <a:lstStyle/>
          <a:p>
            <a:endParaRPr lang="en-US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Matching system recommends workers based on: </a:t>
            </a:r>
          </a:p>
          <a:p>
            <a:pPr marL="347345" indent="-347345"/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Skills </a:t>
            </a:r>
          </a:p>
          <a:p>
            <a:pPr marL="347345" indent="-347345"/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Experience</a:t>
            </a:r>
          </a:p>
          <a:p>
            <a:pPr marL="347345" indent="-347345"/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Uses backend logic (AI placeholder)</a:t>
            </a:r>
            <a:endParaRPr lang="en-US"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9594FD-2E41-42A2-A973-BF8004FF3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936" y="2602228"/>
            <a:ext cx="8574932" cy="34872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997C03-AF95-03A4-69D7-45F483E1643F}"/>
              </a:ext>
            </a:extLst>
          </p:cNvPr>
          <p:cNvSpPr txBox="1"/>
          <p:nvPr/>
        </p:nvSpPr>
        <p:spPr>
          <a:xfrm>
            <a:off x="3961630" y="6375461"/>
            <a:ext cx="49800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Afridur</a:t>
            </a:r>
            <a:r>
              <a:rPr lang="en-US" dirty="0">
                <a:ea typeface="+mn-lt"/>
                <a:cs typeface="+mn-lt"/>
              </a:rPr>
              <a:t> Rahman Khan Mim | Nazia Faruque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74" y="-84097"/>
            <a:ext cx="10511627" cy="1012785"/>
          </a:xfrm>
        </p:spPr>
        <p:txBody>
          <a:bodyPr/>
          <a:lstStyle/>
          <a:p>
            <a:r>
              <a:rPr lang="en-US" b="0">
                <a:solidFill>
                  <a:schemeClr val="tx1"/>
                </a:solidFill>
              </a:rPr>
              <a:t>Hiring</a:t>
            </a:r>
            <a:r>
              <a:rPr lang="en-US" b="0" i="0">
                <a:solidFill>
                  <a:schemeClr val="tx1"/>
                </a:solidFill>
                <a:effectLst/>
              </a:rPr>
              <a:t> Workflow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DB69A2-FA23-4400-BF4B-C939576C4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4957" y="1077469"/>
            <a:ext cx="5216011" cy="1880716"/>
          </a:xfrm>
        </p:spPr>
        <p:txBody>
          <a:bodyPr vert="horz" lIns="91440" tIns="91440" rIns="91440" bIns="91440" rtlCol="0" anchor="t">
            <a:noAutofit/>
          </a:bodyPr>
          <a:lstStyle/>
          <a:p>
            <a:pPr marL="0" indent="0">
              <a:buNone/>
            </a:pPr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Employers can: </a:t>
            </a:r>
          </a:p>
          <a:p>
            <a:pPr marL="347345" indent="-347345"/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Select worker</a:t>
            </a:r>
          </a:p>
          <a:p>
            <a:pPr marL="347345" indent="-347345"/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 Assign job </a:t>
            </a:r>
          </a:p>
          <a:p>
            <a:pPr marL="347345" indent="-347345"/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Job status changes: Hire → Assigned</a:t>
            </a:r>
            <a:endParaRPr lang="en-US"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734AFF-6745-4856-B943-F4F71B21B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473" y="2958731"/>
            <a:ext cx="8534400" cy="31652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74A1C7-2DE9-469C-179B-00732D0AE15C}"/>
              </a:ext>
            </a:extLst>
          </p:cNvPr>
          <p:cNvSpPr txBox="1"/>
          <p:nvPr/>
        </p:nvSpPr>
        <p:spPr>
          <a:xfrm>
            <a:off x="3033479" y="6449166"/>
            <a:ext cx="53364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Afridur</a:t>
            </a:r>
            <a:r>
              <a:rPr lang="en-US" dirty="0">
                <a:ea typeface="+mn-lt"/>
                <a:cs typeface="+mn-lt"/>
              </a:rPr>
              <a:t> Rahman Khan Mim | Nazia Faruque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9200" y="-705898"/>
            <a:ext cx="7308114" cy="1684636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  <a:cs typeface="Arial"/>
              </a:rPr>
              <a:t> Transaction System</a:t>
            </a:r>
            <a:endParaRPr lang="en-US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3845" y="1279341"/>
            <a:ext cx="5715000" cy="1484535"/>
          </a:xfrm>
        </p:spPr>
        <p:txBody>
          <a:bodyPr vert="horz" lIns="91440" tIns="0" rIns="91440" bIns="0" rtlCol="0" anchor="t" anchorCtr="0">
            <a:noAutofit/>
          </a:bodyPr>
          <a:lstStyle/>
          <a:p>
            <a:r>
              <a:rPr lang="en-US" sz="2000" b="1" i="0" dirty="0">
                <a:solidFill>
                  <a:schemeClr val="tx1"/>
                </a:solidFill>
                <a:effectLst/>
                <a:latin typeface="Segoe UI Historic"/>
                <a:ea typeface="Segoe UI Historic"/>
                <a:cs typeface="Segoe UI Historic"/>
              </a:rPr>
              <a:t>Tracks: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Segoe UI Historic"/>
                <a:ea typeface="Segoe UI Historic"/>
                <a:cs typeface="Segoe UI Historic"/>
              </a:rPr>
              <a:t>Hiring records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Segoe UI Historic"/>
                <a:ea typeface="Segoe UI Historic"/>
                <a:cs typeface="Segoe UI Historic"/>
              </a:rPr>
              <a:t>Payment status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Segoe UI Historic"/>
                <a:ea typeface="Segoe UI Historic"/>
                <a:cs typeface="Segoe UI Historic"/>
              </a:rPr>
              <a:t>Transaction model implemented</a:t>
            </a:r>
            <a:endParaRPr lang="en-US" sz="2000" b="1" dirty="0">
              <a:solidFill>
                <a:schemeClr val="tx1"/>
              </a:solidFill>
              <a:latin typeface="Segoe UI Historic"/>
              <a:ea typeface="Segoe UI Historic"/>
              <a:cs typeface="Segoe UI Historic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70ACE6-DD29-4341-ABC1-14D2545F7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70" y="3072581"/>
            <a:ext cx="9034399" cy="28368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A4FE39-A52C-9738-7B24-AAEE957D30B6}"/>
              </a:ext>
            </a:extLst>
          </p:cNvPr>
          <p:cNvSpPr txBox="1"/>
          <p:nvPr/>
        </p:nvSpPr>
        <p:spPr>
          <a:xfrm>
            <a:off x="1933951" y="6228052"/>
            <a:ext cx="60124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Afridur</a:t>
            </a:r>
            <a:r>
              <a:rPr lang="en-US" dirty="0">
                <a:ea typeface="+mn-lt"/>
                <a:cs typeface="+mn-lt"/>
              </a:rPr>
              <a:t> Rahman Khan Mim | Nazia Faruque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657E-5A88-49AF-B46A-E998B4C2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1647" y="-59793"/>
            <a:ext cx="7965461" cy="994164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  <a:cs typeface="Arial"/>
              </a:rPr>
              <a:t> Payment Simulation</a:t>
            </a:r>
            <a:endParaRPr lang="en-US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0588D-BC8A-48E8-9F12-BFB77D7DA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98565" y="1196227"/>
            <a:ext cx="5437628" cy="1273454"/>
          </a:xfrm>
        </p:spPr>
        <p:txBody>
          <a:bodyPr vert="horz" lIns="91440" tIns="0" rIns="91440" bIns="0" rtlCol="0" anchor="t">
            <a:noAutofit/>
          </a:bodyPr>
          <a:lstStyle/>
          <a:p>
            <a:pPr marL="347345" indent="-347345"/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“Pay Now” button added</a:t>
            </a:r>
          </a:p>
          <a:p>
            <a:pPr marL="347345" indent="-347345"/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 Status updated:</a:t>
            </a:r>
          </a:p>
          <a:p>
            <a:pPr marL="347345" indent="-347345"/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 Assigned → Completed</a:t>
            </a:r>
            <a:endParaRPr lang="en-US"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7C9E3-0DB6-4C61-B72D-89CF9386B7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EA118B-0AAA-4606-8287-AF5D3D1F6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406" y="2637377"/>
            <a:ext cx="7163683" cy="32388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3A041B-4E78-D9F7-99E4-3F1AC6FE5F4F}"/>
              </a:ext>
            </a:extLst>
          </p:cNvPr>
          <p:cNvSpPr txBox="1"/>
          <p:nvPr/>
        </p:nvSpPr>
        <p:spPr>
          <a:xfrm>
            <a:off x="4330154" y="6412314"/>
            <a:ext cx="534874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Afridur</a:t>
            </a:r>
            <a:r>
              <a:rPr lang="en-US" dirty="0">
                <a:ea typeface="+mn-lt"/>
                <a:cs typeface="+mn-lt"/>
              </a:rPr>
              <a:t> Rahman Khan Mim | Nazia Faruque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469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EFE02-670F-401A-802D-D7D7CBAE0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916" y="-350429"/>
            <a:ext cx="9046389" cy="1287875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Review &amp; Rating System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183156-A8C6-40B6-8DB1-771910ECFE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3D8B4-C466-4B10-BE2B-548251F39A7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575915" y="940529"/>
            <a:ext cx="7043618" cy="2233233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Employers can: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 Rate workers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Give feedback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 Builds worker credibility</a:t>
            </a:r>
            <a:endParaRPr lang="en-US"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60CE5B-565B-440C-9311-23079FF92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811" y="2356498"/>
            <a:ext cx="6585572" cy="16279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1DA27F-062D-4483-84F7-CDF6456581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206" t="25114" r="32648" b="12754"/>
          <a:stretch/>
        </p:blipFill>
        <p:spPr>
          <a:xfrm>
            <a:off x="4026976" y="4298474"/>
            <a:ext cx="3638503" cy="20837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0CA084-E3FB-4681-A121-15FD9B3B3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866" y="4290931"/>
            <a:ext cx="3113093" cy="20898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567EF8-F62D-F2F1-ABEC-5C6899AABE9F}"/>
              </a:ext>
            </a:extLst>
          </p:cNvPr>
          <p:cNvSpPr txBox="1"/>
          <p:nvPr/>
        </p:nvSpPr>
        <p:spPr>
          <a:xfrm>
            <a:off x="4237596" y="6492062"/>
            <a:ext cx="57297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Afridur</a:t>
            </a:r>
            <a:r>
              <a:rPr lang="en-US" dirty="0">
                <a:ea typeface="+mn-lt"/>
                <a:cs typeface="+mn-lt"/>
              </a:rPr>
              <a:t> Rahman Khan Mim | Nazia Faruque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388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8446D-90F6-46C8-A809-F1A58DACC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07" y="-680400"/>
            <a:ext cx="10131625" cy="1234675"/>
          </a:xfrm>
        </p:spPr>
        <p:txBody>
          <a:bodyPr/>
          <a:lstStyle/>
          <a:p>
            <a:r>
              <a:rPr lang="en-US" b="0" i="0">
                <a:solidFill>
                  <a:schemeClr val="tx1"/>
                </a:solidFill>
                <a:effectLst/>
              </a:rPr>
              <a:t>Worker Dashboard</a:t>
            </a:r>
            <a:r>
              <a:rPr lang="en-US" b="0">
                <a:solidFill>
                  <a:schemeClr val="tx1"/>
                </a:solidFill>
              </a:rPr>
              <a:t> REVIEW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C709F0-1D89-410B-988F-907B586329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28EE8-F9BA-45BD-B3E8-5DA99B6C8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5045" y="692943"/>
            <a:ext cx="4247100" cy="2965183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US" sz="2000" b="1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Overview :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The Worker Dashboard provides a personalized interface where workers can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 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monitor their performance.</a:t>
            </a:r>
            <a:endParaRPr lang="en-US"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AA4570-D221-4F27-9EAC-002AB4D0E3C4}"/>
              </a:ext>
            </a:extLst>
          </p:cNvPr>
          <p:cNvSpPr txBox="1"/>
          <p:nvPr/>
        </p:nvSpPr>
        <p:spPr>
          <a:xfrm>
            <a:off x="273425" y="2826127"/>
            <a:ext cx="4047563" cy="12618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cs typeface="Arial"/>
              </a:rPr>
              <a:t> Reviews &amp; Ratings System:</a:t>
            </a:r>
          </a:p>
          <a:p>
            <a:r>
              <a:rPr lang="en-US" sz="2000" dirty="0">
                <a:latin typeface="Arial"/>
                <a:cs typeface="Arial"/>
              </a:rPr>
              <a:t>Displays feedback and ratings from employers to build credibility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FB7429-FA71-4096-BB28-AB11FCE3D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342" y="548690"/>
            <a:ext cx="6113033" cy="57606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3B36D4-FBD3-03A6-234A-AAFF1A11E11D}"/>
              </a:ext>
            </a:extLst>
          </p:cNvPr>
          <p:cNvSpPr txBox="1"/>
          <p:nvPr/>
        </p:nvSpPr>
        <p:spPr>
          <a:xfrm>
            <a:off x="2892911" y="6486019"/>
            <a:ext cx="52012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Afridur</a:t>
            </a:r>
            <a:r>
              <a:rPr lang="en-US" dirty="0">
                <a:ea typeface="+mn-lt"/>
                <a:cs typeface="+mn-lt"/>
              </a:rPr>
              <a:t> Rahman Khan Mim | Nazia Faruque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276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170D-416E-4376-B2FF-FB627DF2B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" y="0"/>
            <a:ext cx="10414301" cy="1185515"/>
          </a:xfrm>
        </p:spPr>
        <p:txBody>
          <a:bodyPr/>
          <a:lstStyle/>
          <a:p>
            <a:r>
              <a:rPr lang="en-US" sz="3200" b="0" i="0" dirty="0">
                <a:solidFill>
                  <a:schemeClr val="tx1"/>
                </a:solidFill>
                <a:effectLst/>
              </a:rPr>
              <a:t>Data Validation &amp; Error Handling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27E4F6-DEE5-4396-AFDF-3E7E527F3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6105E-9F96-4614-8090-261F8144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8919" y="1747361"/>
            <a:ext cx="4707627" cy="3234123"/>
          </a:xfrm>
        </p:spPr>
        <p:txBody>
          <a:bodyPr vert="horz" lIns="91440" tIns="0" rIns="91440" bIns="0" rtlCol="0" anchor="t">
            <a:noAutofit/>
          </a:bodyPr>
          <a:lstStyle/>
          <a:p>
            <a:r>
              <a:rPr lang="en-US" sz="2400" b="1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Backend validation added: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Prevent invalid inputs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Duplicate prevention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User-friendly error messages</a:t>
            </a:r>
            <a:endParaRPr lang="en-US" sz="24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8F75E3-F9E3-0F70-7185-A55E928629DE}"/>
              </a:ext>
            </a:extLst>
          </p:cNvPr>
          <p:cNvSpPr txBox="1"/>
          <p:nvPr/>
        </p:nvSpPr>
        <p:spPr>
          <a:xfrm>
            <a:off x="2745521" y="6228201"/>
            <a:ext cx="55453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Afridur</a:t>
            </a:r>
            <a:r>
              <a:rPr lang="en-US" dirty="0">
                <a:ea typeface="+mn-lt"/>
                <a:cs typeface="+mn-lt"/>
              </a:rPr>
              <a:t> Rahman Khan Mim | Nazia Faruque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14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A165-35E8-4F4C-96F6-19CADDADD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84" y="2764"/>
            <a:ext cx="10511627" cy="1012785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System Integration &amp; Testing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A3BB8-161F-4829-8DDF-73ADBC3AF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00444" y="1554067"/>
            <a:ext cx="6001657" cy="3313769"/>
          </a:xfrm>
        </p:spPr>
        <p:txBody>
          <a:bodyPr vert="horz" lIns="91440" tIns="91440" rIns="91440" bIns="91440" rtlCol="0" anchor="t">
            <a:noAutofit/>
          </a:bodyPr>
          <a:lstStyle/>
          <a:p>
            <a:pPr marL="0" indent="0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All modules integrated:</a:t>
            </a:r>
          </a:p>
          <a:p>
            <a:pPr marL="347345" indent="-347345"/>
            <a:r>
              <a:rPr lang="en-US" sz="24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 Registration </a:t>
            </a:r>
          </a:p>
          <a:p>
            <a:pPr marL="347345" indent="-347345"/>
            <a:r>
              <a:rPr lang="en-US" sz="24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Verification </a:t>
            </a:r>
          </a:p>
          <a:p>
            <a:pPr marL="347345" indent="-347345"/>
            <a:r>
              <a:rPr lang="en-US" sz="24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Matching</a:t>
            </a:r>
          </a:p>
          <a:p>
            <a:pPr marL="347345" indent="-347345"/>
            <a:r>
              <a:rPr lang="en-US" sz="24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 Hiring </a:t>
            </a:r>
          </a:p>
          <a:p>
            <a:pPr marL="347345" indent="-347345"/>
            <a:r>
              <a:rPr lang="en-US" sz="24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Payment </a:t>
            </a:r>
          </a:p>
          <a:p>
            <a:pPr marL="347345" indent="-347345"/>
            <a:r>
              <a:rPr lang="en-US" sz="2400" b="0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End-to-end workflow tested</a:t>
            </a:r>
            <a:endParaRPr lang="en-US" sz="24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346C5-507F-4507-9328-26C5645496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D335A-71E6-3738-031C-4EE695B3C66C}"/>
              </a:ext>
            </a:extLst>
          </p:cNvPr>
          <p:cNvSpPr txBox="1"/>
          <p:nvPr/>
        </p:nvSpPr>
        <p:spPr>
          <a:xfrm>
            <a:off x="3912470" y="6338609"/>
            <a:ext cx="54224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Afridur</a:t>
            </a:r>
            <a:r>
              <a:rPr lang="en-US" dirty="0">
                <a:ea typeface="+mn-lt"/>
                <a:cs typeface="+mn-lt"/>
              </a:rPr>
              <a:t> Rahman Khan Mim | Nazia Faruque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84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526C4-3B9B-4FC4-B9EE-16AB5BB0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233" y="-5002"/>
            <a:ext cx="9436983" cy="710456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 Tools &amp; Technologies Used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E3B2C-02BD-4AF2-BF58-76B36176FF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18117" y="821111"/>
            <a:ext cx="5325365" cy="5485266"/>
          </a:xfrm>
        </p:spPr>
        <p:txBody>
          <a:bodyPr/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Frontend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HTML, 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Tailwind CSS → UI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JavaScript → Dynamic interaction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Backend: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Python (Flask)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Routing &amp; API handling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Database: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SQLite (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SQLAlchemy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ORM)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AI Logic: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Matching algorithm (custom logic)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Development Tools: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VS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Git &amp; GitHub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FF9D1-3E95-4C38-9EFF-48948E8056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F593B-BB24-4AB5-9529-D2224B129E37}"/>
              </a:ext>
            </a:extLst>
          </p:cNvPr>
          <p:cNvSpPr txBox="1"/>
          <p:nvPr/>
        </p:nvSpPr>
        <p:spPr>
          <a:xfrm>
            <a:off x="6840070" y="1247017"/>
            <a:ext cx="5017928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i="0" dirty="0">
                <a:effectLst/>
                <a:latin typeface="Arial"/>
                <a:cs typeface="Arial"/>
              </a:rPr>
              <a:t>Project Architecture :</a:t>
            </a:r>
          </a:p>
          <a:p>
            <a:endParaRPr lang="en-US" sz="2400" b="1" dirty="0">
              <a:latin typeface="Arial"/>
              <a:cs typeface="Arial"/>
            </a:endParaRPr>
          </a:p>
          <a:p>
            <a:r>
              <a:rPr lang="en-US" sz="2400" b="0" i="0" dirty="0">
                <a:effectLst/>
                <a:latin typeface="Arial"/>
                <a:cs typeface="Arial"/>
              </a:rPr>
              <a:t>Frontend → UI (HTML, Tailwind) Backend → Flask routes </a:t>
            </a:r>
          </a:p>
          <a:p>
            <a:r>
              <a:rPr lang="en-US" sz="2400" b="0" i="0" dirty="0">
                <a:effectLst/>
                <a:latin typeface="Arial"/>
                <a:cs typeface="Arial"/>
              </a:rPr>
              <a:t>Database → SQLite Matching Module → Services layer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A10C7-28DA-49D1-3B41-FB480FF7ED2A}"/>
              </a:ext>
            </a:extLst>
          </p:cNvPr>
          <p:cNvSpPr txBox="1"/>
          <p:nvPr/>
        </p:nvSpPr>
        <p:spPr>
          <a:xfrm>
            <a:off x="4477564" y="635703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C01122-FDD3-6759-E6EB-CF34262D9924}"/>
              </a:ext>
            </a:extLst>
          </p:cNvPr>
          <p:cNvSpPr txBox="1"/>
          <p:nvPr/>
        </p:nvSpPr>
        <p:spPr>
          <a:xfrm>
            <a:off x="3648385" y="6375461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84258D-4DA8-51BF-3634-1FFCB61B4802}"/>
              </a:ext>
            </a:extLst>
          </p:cNvPr>
          <p:cNvSpPr txBox="1"/>
          <p:nvPr/>
        </p:nvSpPr>
        <p:spPr>
          <a:xfrm>
            <a:off x="4040412" y="6357166"/>
            <a:ext cx="504149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Afridur</a:t>
            </a:r>
            <a:r>
              <a:rPr lang="en-US" dirty="0">
                <a:ea typeface="+mn-lt"/>
                <a:cs typeface="+mn-lt"/>
              </a:rPr>
              <a:t> Rahman Khan Mim | Nazia Faruque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10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D62E-8E4D-4430-8066-44FE32C7C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705" y="268380"/>
            <a:ext cx="9875463" cy="1184100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Conclusion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A3236-BEBC-4F53-A585-E1EBCE60E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3753" y="1845303"/>
            <a:ext cx="10887386" cy="3487158"/>
          </a:xfrm>
        </p:spPr>
        <p:txBody>
          <a:bodyPr vert="horz" lIns="91440" tIns="0" rIns="91440" bIns="0" rtlCol="0" anchor="t">
            <a:noAutofit/>
          </a:bodyPr>
          <a:lstStyle/>
          <a:p>
            <a:pPr marL="0" indent="0">
              <a:buNone/>
            </a:pPr>
            <a:r>
              <a:rPr lang="en-US" b="1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SafeHire</a:t>
            </a:r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successfully developed as a complete hiring workflow system</a:t>
            </a:r>
          </a:p>
          <a:p>
            <a:pPr marL="0" indent="0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 </a:t>
            </a:r>
            <a:r>
              <a:rPr lang="en-US" b="1" i="0" u="sng" dirty="0">
                <a:solidFill>
                  <a:schemeClr val="tx1"/>
                </a:solidFill>
                <a:effectLst/>
                <a:latin typeface="Arial"/>
                <a:cs typeface="Arial"/>
              </a:rPr>
              <a:t>Ensures: </a:t>
            </a:r>
          </a:p>
          <a:p>
            <a:pPr marL="347345" indent="-347345"/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Worker trust </a:t>
            </a:r>
          </a:p>
          <a:p>
            <a:pPr marL="347345" indent="-347345"/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Efficient hiring </a:t>
            </a:r>
          </a:p>
          <a:p>
            <a:pPr marL="347345" indent="-347345"/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Structured transactions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D295A-450C-4ABE-A792-521578CE03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48D55E-79CC-527F-1344-BCE5390B1483}"/>
              </a:ext>
            </a:extLst>
          </p:cNvPr>
          <p:cNvSpPr txBox="1"/>
          <p:nvPr/>
        </p:nvSpPr>
        <p:spPr>
          <a:xfrm>
            <a:off x="3334713" y="6172885"/>
            <a:ext cx="53979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Afridur</a:t>
            </a:r>
            <a:r>
              <a:rPr lang="en-US" dirty="0">
                <a:ea typeface="+mn-lt"/>
                <a:cs typeface="+mn-lt"/>
              </a:rPr>
              <a:t> Rahman Khan Mim | Nazia Faruque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74454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{9F930100-7B86-471D-8B3B-28519E1775B9}TF8a9b5915-b8c7-461e-8cdd-693d48b5e32371f7b7e2_win32-4bf0b9a2ea37</Template>
  <TotalTime>181</TotalTime>
  <Words>780</Words>
  <Application>Microsoft Office PowerPoint</Application>
  <PresentationFormat>Widescreen</PresentationFormat>
  <Paragraphs>155</Paragraphs>
  <Slides>20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Custom</vt:lpstr>
      <vt:lpstr>SafeHire – An AI-Powered Service Hiring Platform</vt:lpstr>
      <vt:lpstr>Project Overview</vt:lpstr>
      <vt:lpstr>Development Stages Overview</vt:lpstr>
      <vt:lpstr>Worker Login System</vt:lpstr>
      <vt:lpstr>Worker Dashboard</vt:lpstr>
      <vt:lpstr>            Worker Registration System</vt:lpstr>
      <vt:lpstr>Admin Dashboard</vt:lpstr>
      <vt:lpstr>            Worker Verification System</vt:lpstr>
      <vt:lpstr>Employer Sign Up</vt:lpstr>
      <vt:lpstr>Job Posting System</vt:lpstr>
      <vt:lpstr> AI-Based Job Matching</vt:lpstr>
      <vt:lpstr>Hiring Workflow</vt:lpstr>
      <vt:lpstr> Transaction System</vt:lpstr>
      <vt:lpstr> Payment Simulation</vt:lpstr>
      <vt:lpstr>Review &amp; Rating System</vt:lpstr>
      <vt:lpstr>Worker Dashboard REVIEW</vt:lpstr>
      <vt:lpstr>Data Validation &amp; Error Handling</vt:lpstr>
      <vt:lpstr>System Integration &amp; Testing</vt:lpstr>
      <vt:lpstr> Tools &amp; Technologies Used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SafeHire – An AI-Powered Service Hiring Platform</dc:title>
  <dc:subject/>
  <dc:creator>Afrid Khan</dc:creator>
  <cp:lastModifiedBy>Afrid Khan</cp:lastModifiedBy>
  <cp:revision>213</cp:revision>
  <dcterms:created xsi:type="dcterms:W3CDTF">2026-04-05T18:07:55Z</dcterms:created>
  <dcterms:modified xsi:type="dcterms:W3CDTF">2026-04-05T21:46:30Z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