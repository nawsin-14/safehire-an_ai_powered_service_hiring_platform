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5"/>
  </p:notesMasterIdLst>
  <p:handoutMasterIdLst>
    <p:handoutMasterId r:id="rId26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  <p:sldId id="323" r:id="rId18"/>
    <p:sldId id="324" r:id="rId19"/>
    <p:sldId id="325" r:id="rId20"/>
    <p:sldId id="326" r:id="rId21"/>
    <p:sldId id="327" r:id="rId22"/>
    <p:sldId id="328" r:id="rId23"/>
    <p:sldId id="329" r:id="rId2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88" autoAdjust="0"/>
  </p:normalViewPr>
  <p:slideViewPr>
    <p:cSldViewPr snapToGrid="0" snapToObjects="1">
      <p:cViewPr varScale="1">
        <p:scale>
          <a:sx n="85" d="100"/>
          <a:sy n="85" d="100"/>
        </p:scale>
        <p:origin x="336" y="53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-1443318"/>
            <a:ext cx="6392421" cy="5325035"/>
          </a:xfrm>
        </p:spPr>
        <p:txBody>
          <a:bodyPr anchor="ctr"/>
          <a:lstStyle/>
          <a:p>
            <a:r>
              <a:rPr lang="en-US" b="0" i="0" dirty="0" err="1">
                <a:solidFill>
                  <a:schemeClr val="tx1"/>
                </a:solidFill>
                <a:effectLst/>
              </a:rPr>
              <a:t>SafeHire</a:t>
            </a:r>
            <a:r>
              <a:rPr lang="en-US" b="0" i="0" dirty="0">
                <a:solidFill>
                  <a:schemeClr val="tx1"/>
                </a:solidFill>
                <a:effectLst/>
              </a:rPr>
              <a:t> – An AI-Powered Service Hiring Platform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65D1FA-314B-4BB5-8567-8118FDB05039}"/>
              </a:ext>
            </a:extLst>
          </p:cNvPr>
          <p:cNvSpPr txBox="1"/>
          <p:nvPr/>
        </p:nvSpPr>
        <p:spPr>
          <a:xfrm>
            <a:off x="5100916" y="2357716"/>
            <a:ext cx="283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i="0" dirty="0">
                <a:effectLst/>
                <a:latin typeface="Segoe UI Historic" panose="020B0502040204020203" pitchFamily="34" charset="0"/>
              </a:rPr>
              <a:t>CSE299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62DAE2-F4BE-41CE-A9A4-7A289E714C97}"/>
              </a:ext>
            </a:extLst>
          </p:cNvPr>
          <p:cNvSpPr txBox="1"/>
          <p:nvPr/>
        </p:nvSpPr>
        <p:spPr>
          <a:xfrm>
            <a:off x="3541059" y="6137228"/>
            <a:ext cx="71807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 i="0" u="none" strike="noStrike" dirty="0" err="1">
                <a:solidFill>
                  <a:srgbClr val="E2E5E9"/>
                </a:solidFill>
                <a:effectLst/>
                <a:latin typeface="inherit"/>
              </a:rPr>
              <a:t>Afridur</a:t>
            </a:r>
            <a:r>
              <a:rPr lang="en-US" sz="2000" b="0" i="0" u="none" strike="noStrike" dirty="0">
                <a:solidFill>
                  <a:srgbClr val="E2E5E9"/>
                </a:solidFill>
                <a:effectLst/>
                <a:latin typeface="inherit"/>
              </a:rPr>
              <a:t> Rahman Khan </a:t>
            </a:r>
            <a:r>
              <a:rPr lang="en-US" sz="2000" b="0" i="0" u="none" strike="noStrike" dirty="0" err="1">
                <a:solidFill>
                  <a:srgbClr val="E2E5E9"/>
                </a:solidFill>
                <a:effectLst/>
                <a:latin typeface="inherit"/>
              </a:rPr>
              <a:t>Mim</a:t>
            </a:r>
            <a:r>
              <a:rPr lang="en-US" sz="2000" b="0" i="0" u="none" strike="noStrike" dirty="0">
                <a:solidFill>
                  <a:srgbClr val="E2E5E9"/>
                </a:solidFill>
                <a:effectLst/>
                <a:latin typeface="inherit"/>
              </a:rPr>
              <a:t> | </a:t>
            </a:r>
            <a:r>
              <a:rPr lang="en-US" sz="2000" b="0" i="0" u="none" strike="noStrike" dirty="0" err="1">
                <a:solidFill>
                  <a:srgbClr val="E2E5E9"/>
                </a:solidFill>
                <a:effectLst/>
                <a:latin typeface="inherit"/>
              </a:rPr>
              <a:t>Nazia</a:t>
            </a:r>
            <a:r>
              <a:rPr lang="en-US" sz="2000" b="0" i="0" u="none" strike="noStrike" dirty="0">
                <a:solidFill>
                  <a:srgbClr val="E2E5E9"/>
                </a:solidFill>
                <a:effectLst/>
                <a:latin typeface="inherit"/>
              </a:rPr>
              <a:t> </a:t>
            </a:r>
            <a:r>
              <a:rPr lang="en-US" sz="2000" b="0" i="0" u="none" strike="noStrike" dirty="0" err="1">
                <a:solidFill>
                  <a:srgbClr val="E2E5E9"/>
                </a:solidFill>
                <a:effectLst/>
                <a:latin typeface="inherit"/>
              </a:rPr>
              <a:t>Faruque</a:t>
            </a:r>
            <a:r>
              <a:rPr lang="en-US" sz="2000" b="0" i="0" u="none" strike="noStrike" dirty="0">
                <a:solidFill>
                  <a:srgbClr val="E2E5E9"/>
                </a:solidFill>
                <a:effectLst/>
                <a:latin typeface="inherit"/>
              </a:rPr>
              <a:t> Diya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696" y="281605"/>
            <a:ext cx="6187111" cy="679149"/>
          </a:xfrm>
        </p:spPr>
        <p:txBody>
          <a:bodyPr/>
          <a:lstStyle/>
          <a:p>
            <a:r>
              <a:rPr lang="en-US" sz="3200" i="0" dirty="0">
                <a:solidFill>
                  <a:schemeClr val="tx1"/>
                </a:solidFill>
                <a:effectLst/>
              </a:rPr>
              <a:t>Project Overview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56" y="2029700"/>
            <a:ext cx="4516932" cy="4184488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SafeHire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a web-based platform to connect employers with verified workers Focus on trust, safety, and smart hiring Includes: Worker verification system AI-based job matching Hiring &amp; transaction system.</a:t>
            </a: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AD9444-6689-49D0-94E5-CCF2A2AF3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169" y="862516"/>
            <a:ext cx="6461175" cy="52900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E2B01C-DE46-4234-BE25-595C248693CF}"/>
              </a:ext>
            </a:extLst>
          </p:cNvPr>
          <p:cNvSpPr txBox="1"/>
          <p:nvPr/>
        </p:nvSpPr>
        <p:spPr>
          <a:xfrm>
            <a:off x="2923591" y="6343671"/>
            <a:ext cx="6344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dirty="0" err="1">
                <a:effectLst/>
                <a:latin typeface="inherit"/>
              </a:rPr>
              <a:t>Afridur</a:t>
            </a:r>
            <a:r>
              <a:rPr lang="en-US" sz="1800" b="0" i="0" u="none" strike="noStrike" dirty="0">
                <a:effectLst/>
                <a:latin typeface="inherit"/>
              </a:rPr>
              <a:t> Rahman Khan </a:t>
            </a:r>
            <a:r>
              <a:rPr lang="en-US" sz="1800" b="0" i="0" u="none" strike="noStrike" dirty="0" err="1">
                <a:effectLst/>
                <a:latin typeface="inherit"/>
              </a:rPr>
              <a:t>Mim</a:t>
            </a:r>
            <a:r>
              <a:rPr lang="en-US" sz="1800" b="0" i="0" u="none" strike="noStrike" dirty="0">
                <a:effectLst/>
                <a:latin typeface="inherit"/>
              </a:rPr>
              <a:t> | </a:t>
            </a:r>
            <a:r>
              <a:rPr lang="en-US" sz="1800" b="0" i="0" u="none" strike="noStrike" dirty="0" err="1">
                <a:effectLst/>
                <a:latin typeface="inherit"/>
              </a:rPr>
              <a:t>Nazia</a:t>
            </a:r>
            <a:r>
              <a:rPr lang="en-US" sz="1800" b="0" i="0" u="none" strike="noStrike" dirty="0">
                <a:effectLst/>
                <a:latin typeface="inherit"/>
              </a:rPr>
              <a:t> </a:t>
            </a:r>
            <a:r>
              <a:rPr lang="en-US" sz="1800" b="0" i="0" u="none" strike="noStrike" dirty="0" err="1">
                <a:effectLst/>
                <a:latin typeface="inherit"/>
              </a:rPr>
              <a:t>Faruque</a:t>
            </a:r>
            <a:r>
              <a:rPr lang="en-US" sz="1800" b="0" i="0" u="none" strike="noStrike" dirty="0">
                <a:effectLst/>
                <a:latin typeface="inherit"/>
              </a:rPr>
              <a:t>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371" y="-123367"/>
            <a:ext cx="5223706" cy="1700239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Development Stages Overview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6BCB5D-C4BA-4242-8ED5-63C9EFECF396}"/>
              </a:ext>
            </a:extLst>
          </p:cNvPr>
          <p:cNvSpPr txBox="1"/>
          <p:nvPr/>
        </p:nvSpPr>
        <p:spPr>
          <a:xfrm>
            <a:off x="1828799" y="1800923"/>
            <a:ext cx="73898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Stage 1: Basic UI &amp; Worker Registration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Stage 2: Worker Verification System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Stage 3: Job Posting &amp; Matching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Stage 4: Hiring Workflow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Stage 5: Transaction &amp; Payment Simulation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Stage 6: Review &amp; Rating System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162060-C07E-414D-B665-6139C6967079}"/>
              </a:ext>
            </a:extLst>
          </p:cNvPr>
          <p:cNvSpPr txBox="1"/>
          <p:nvPr/>
        </p:nvSpPr>
        <p:spPr>
          <a:xfrm>
            <a:off x="3480318" y="6027576"/>
            <a:ext cx="469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0" u="none" strike="noStrike" dirty="0" err="1">
                <a:effectLst/>
                <a:latin typeface="inherit"/>
              </a:rPr>
              <a:t>Afridur</a:t>
            </a:r>
            <a:r>
              <a:rPr lang="en-US" sz="1800" b="0" i="0" u="none" strike="noStrike" dirty="0">
                <a:effectLst/>
                <a:latin typeface="inherit"/>
              </a:rPr>
              <a:t> Rahman Khan </a:t>
            </a:r>
            <a:r>
              <a:rPr lang="en-US" sz="1800" b="0" i="0" u="none" strike="noStrike" dirty="0" err="1">
                <a:effectLst/>
                <a:latin typeface="inherit"/>
              </a:rPr>
              <a:t>Mim</a:t>
            </a:r>
            <a:r>
              <a:rPr lang="en-US" sz="1800" b="0" i="0" u="none" strike="noStrike" dirty="0">
                <a:effectLst/>
                <a:latin typeface="inherit"/>
              </a:rPr>
              <a:t> | </a:t>
            </a:r>
            <a:r>
              <a:rPr lang="en-US" sz="1800" b="0" i="0" u="none" strike="noStrike" dirty="0" err="1">
                <a:effectLst/>
                <a:latin typeface="inherit"/>
              </a:rPr>
              <a:t>Nazia</a:t>
            </a:r>
            <a:r>
              <a:rPr lang="en-US" sz="1800" b="0" i="0" u="none" strike="noStrike" dirty="0">
                <a:effectLst/>
                <a:latin typeface="inherit"/>
              </a:rPr>
              <a:t> </a:t>
            </a:r>
            <a:r>
              <a:rPr lang="en-US" sz="1800" b="0" i="0" u="none" strike="noStrike" dirty="0" err="1">
                <a:effectLst/>
                <a:latin typeface="inherit"/>
              </a:rPr>
              <a:t>Faruque</a:t>
            </a:r>
            <a:r>
              <a:rPr lang="en-US" sz="1800" b="0" i="0" u="none" strike="noStrike" dirty="0">
                <a:effectLst/>
                <a:latin typeface="inherit"/>
              </a:rPr>
              <a:t> Diya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4FAD4A-A151-419D-85D7-3ADB761E8F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330"/>
          <a:stretch/>
        </p:blipFill>
        <p:spPr>
          <a:xfrm>
            <a:off x="1376245" y="1268874"/>
            <a:ext cx="9726382" cy="475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5259554" cy="659813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Worker Login System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445" y="1700032"/>
            <a:ext cx="10976109" cy="1239112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Workers can securely log into the platform Authentication using username &amp; password Role-based login (Worker / Employer) Redirects to dashboard after successful login.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DD2431-0A85-4F8D-B1A2-1768B2CE0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5" y="3232590"/>
            <a:ext cx="2898732" cy="2908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3FB519-C7FB-44BD-A77F-14DC7E435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814" y="3216842"/>
            <a:ext cx="3261896" cy="29522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94A45F-76D2-4512-83F1-76197E5EE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3849" y="3216842"/>
            <a:ext cx="3049457" cy="29396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277958-229D-4924-A712-3F31857A9C2B}"/>
              </a:ext>
            </a:extLst>
          </p:cNvPr>
          <p:cNvSpPr txBox="1"/>
          <p:nvPr/>
        </p:nvSpPr>
        <p:spPr>
          <a:xfrm>
            <a:off x="3480318" y="6488668"/>
            <a:ext cx="469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0" u="none" strike="noStrike" dirty="0" err="1">
                <a:effectLst/>
                <a:latin typeface="inherit"/>
              </a:rPr>
              <a:t>Afridur</a:t>
            </a:r>
            <a:r>
              <a:rPr lang="en-US" sz="1800" b="0" i="0" u="none" strike="noStrike" dirty="0">
                <a:effectLst/>
                <a:latin typeface="inherit"/>
              </a:rPr>
              <a:t> Rahman Khan </a:t>
            </a:r>
            <a:r>
              <a:rPr lang="en-US" sz="1800" b="0" i="0" u="none" strike="noStrike" dirty="0" err="1">
                <a:effectLst/>
                <a:latin typeface="inherit"/>
              </a:rPr>
              <a:t>Mim</a:t>
            </a:r>
            <a:r>
              <a:rPr lang="en-US" sz="1800" b="0" i="0" u="none" strike="noStrike" dirty="0">
                <a:effectLst/>
                <a:latin typeface="inherit"/>
              </a:rPr>
              <a:t> | </a:t>
            </a:r>
            <a:r>
              <a:rPr lang="en-US" sz="1800" b="0" i="0" u="none" strike="noStrike" dirty="0" err="1">
                <a:effectLst/>
                <a:latin typeface="inherit"/>
              </a:rPr>
              <a:t>Nazia</a:t>
            </a:r>
            <a:r>
              <a:rPr lang="en-US" sz="1800" b="0" i="0" u="none" strike="noStrike" dirty="0">
                <a:effectLst/>
                <a:latin typeface="inherit"/>
              </a:rPr>
              <a:t> </a:t>
            </a:r>
            <a:r>
              <a:rPr lang="en-US" sz="1800" b="0" i="0" u="none" strike="noStrike" dirty="0" err="1">
                <a:effectLst/>
                <a:latin typeface="inherit"/>
              </a:rPr>
              <a:t>Faruque</a:t>
            </a:r>
            <a:r>
              <a:rPr lang="en-US" sz="1800" b="0" i="0" u="none" strike="noStrike" dirty="0">
                <a:effectLst/>
                <a:latin typeface="inherit"/>
              </a:rPr>
              <a:t>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41" y="-421902"/>
            <a:ext cx="7965461" cy="994164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Worker Dashboard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8235" y="692943"/>
            <a:ext cx="8790214" cy="1579269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Central interface for workers after login Displays: Assigned jobs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Job status (Open / Assigned / Completed)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Workers can: View job details , Track progress 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User-friendly and responsive design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C33F71-95EE-4CC4-B46A-8385E229D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580" y="2272212"/>
            <a:ext cx="5179079" cy="40606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2C331A-E293-4CC1-8569-03FF74999BE8}"/>
              </a:ext>
            </a:extLst>
          </p:cNvPr>
          <p:cNvSpPr txBox="1"/>
          <p:nvPr/>
        </p:nvSpPr>
        <p:spPr>
          <a:xfrm>
            <a:off x="4045671" y="6488668"/>
            <a:ext cx="469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0" u="none" strike="noStrike" dirty="0" err="1">
                <a:effectLst/>
                <a:latin typeface="inherit"/>
              </a:rPr>
              <a:t>Afridur</a:t>
            </a:r>
            <a:r>
              <a:rPr lang="en-US" sz="1800" b="0" i="0" u="none" strike="noStrike" dirty="0">
                <a:effectLst/>
                <a:latin typeface="inherit"/>
              </a:rPr>
              <a:t> Rahman Khan </a:t>
            </a:r>
            <a:r>
              <a:rPr lang="en-US" sz="1800" b="0" i="0" u="none" strike="noStrike" dirty="0" err="1">
                <a:effectLst/>
                <a:latin typeface="inherit"/>
              </a:rPr>
              <a:t>Mim</a:t>
            </a:r>
            <a:r>
              <a:rPr lang="en-US" sz="1800" b="0" i="0" u="none" strike="noStrike" dirty="0">
                <a:effectLst/>
                <a:latin typeface="inherit"/>
              </a:rPr>
              <a:t> | </a:t>
            </a:r>
            <a:r>
              <a:rPr lang="en-US" sz="1800" b="0" i="0" u="none" strike="noStrike" dirty="0" err="1">
                <a:effectLst/>
                <a:latin typeface="inherit"/>
              </a:rPr>
              <a:t>Nazia</a:t>
            </a:r>
            <a:r>
              <a:rPr lang="en-US" sz="1800" b="0" i="0" u="none" strike="noStrike" dirty="0">
                <a:effectLst/>
                <a:latin typeface="inherit"/>
              </a:rPr>
              <a:t> </a:t>
            </a:r>
            <a:r>
              <a:rPr lang="en-US" sz="1800" b="0" i="0" u="none" strike="noStrike" dirty="0" err="1">
                <a:effectLst/>
                <a:latin typeface="inherit"/>
              </a:rPr>
              <a:t>Faruque</a:t>
            </a:r>
            <a:r>
              <a:rPr lang="en-US" sz="1800" b="0" i="0" u="none" strike="noStrike" dirty="0">
                <a:effectLst/>
                <a:latin typeface="inherit"/>
              </a:rPr>
              <a:t> Diya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321"/>
            <a:ext cx="7043617" cy="1139091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Stage 1 – Worker Registration System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469340" y="1254167"/>
            <a:ext cx="3827931" cy="3242224"/>
          </a:xfrm>
        </p:spPr>
        <p:txBody>
          <a:bodyPr>
            <a:normAutofit fontScale="47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Workers can register with: Name, Skills, NID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51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Backend stores worker data using database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51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Duplicate NID prevention implemented</a:t>
            </a:r>
          </a:p>
          <a:p>
            <a:b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53D59A-5B6F-4417-ABEE-606AD45C0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367" y="108081"/>
            <a:ext cx="4228508" cy="21500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98DB55-2222-4448-AFC2-F51D34CE7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368" y="2302925"/>
            <a:ext cx="4228508" cy="21038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4CF471-A6FA-479B-A8DB-285AEEED66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3107" y="4496391"/>
            <a:ext cx="4216770" cy="230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670" y="0"/>
            <a:ext cx="7796464" cy="577844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Admin Dashboard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1670" y="772403"/>
            <a:ext cx="6152322" cy="124524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Admin Dashboard is the central control panel of the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SafeHire</a:t>
            </a: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system. It allows administrators to monitor platform activities, manage users, and ensure system integrity.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A13622-CD74-4F36-B9F2-80564261DA39}"/>
              </a:ext>
            </a:extLst>
          </p:cNvPr>
          <p:cNvSpPr txBox="1"/>
          <p:nvPr/>
        </p:nvSpPr>
        <p:spPr>
          <a:xfrm>
            <a:off x="591670" y="2017645"/>
            <a:ext cx="580016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Key Features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User Management 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View and manage all registered workers and employers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Worker Verification System: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Approve or reject worker profiles based on submitted   information.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Job Monitoring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Track all posted jobs and their current status (Open, Assigned,    Completed)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Transaction Management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Monitor all hiring transactions and payment status.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Review &amp; Rating Oversight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View feedback given to workers to maintain service quality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461E3A-DA41-48B6-BACB-0431032D7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38183"/>
            <a:ext cx="6010352" cy="250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3" y="0"/>
            <a:ext cx="7631709" cy="1091627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Stage 2 – Worker Verification System</a:t>
            </a:r>
            <a:endParaRPr lang="en-US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3012" y="1420385"/>
            <a:ext cx="4616823" cy="121070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Admin verifies workers: Pending → Verified / Rejected Improves platform trust Status badge system implemented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7DC45D-46FD-4CAB-8F40-F55463EBC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12" y="3126534"/>
            <a:ext cx="9708776" cy="303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19" y="-412938"/>
            <a:ext cx="7843837" cy="1012782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Employer Sign Up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4019" y="704339"/>
            <a:ext cx="6903076" cy="3721817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Employer Sign Up allows users to create an account to post jobs and hire workers on the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SafeHire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Key Features: 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Registration Form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Employers enter username and password to create    an account.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Secure Authentication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User credentials are stored securely in the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Quick Access Setup.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and fast registration process.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BE794C-C823-4620-88BA-ED9E55059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856" y="162206"/>
            <a:ext cx="3318901" cy="30419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00D044-BF82-4A7F-8A72-579A002CB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7856" y="3304995"/>
            <a:ext cx="3318900" cy="309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246" y="-352880"/>
            <a:ext cx="9879437" cy="980844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Stage 3 – Job Posting System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2611" y="892828"/>
            <a:ext cx="2975217" cy="1997995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Employers can: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 jobs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Define required skills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Jobs stored in database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F19191-97C0-4835-94AC-3E82884B0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718" y="834325"/>
            <a:ext cx="5692588" cy="18824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5AA038-32EF-45E2-AA29-652ACD641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289" y="2923132"/>
            <a:ext cx="2744141" cy="351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3" y="-306803"/>
            <a:ext cx="9875463" cy="999746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Stage 4 – AI-Based Job Matching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446" y="375617"/>
            <a:ext cx="5829147" cy="2062784"/>
          </a:xfrm>
        </p:spPr>
        <p:txBody>
          <a:bodyPr>
            <a:normAutofit/>
          </a:bodyPr>
          <a:lstStyle/>
          <a:p>
            <a:endParaRPr lang="en-US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Matching system recommends workers based on: 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Skills 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Uses backend logic (AI placeholder)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9594FD-2E41-42A2-A973-BF8004FF3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78" y="2675970"/>
            <a:ext cx="8574932" cy="348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14400" y="-84097"/>
            <a:ext cx="10511627" cy="1012785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Stage 5 – Hiring Workflow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DB69A2-FA23-4400-BF4B-C939576C4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989" y="1077469"/>
            <a:ext cx="4724399" cy="1942167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Employers can: 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Select worker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Assign job 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Job status changes: Hire → Assigned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734AFF-6745-4856-B943-F4F71B21B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76" y="2934150"/>
            <a:ext cx="8534400" cy="316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330" y="80682"/>
            <a:ext cx="5280211" cy="1623185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Stage 6 – Transaction System</a:t>
            </a:r>
            <a:endParaRPr lang="en-US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942" y="1832406"/>
            <a:ext cx="5715000" cy="1484535"/>
          </a:xfrm>
        </p:spPr>
        <p:txBody>
          <a:bodyPr>
            <a:norm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Segoe UI Historic" panose="020B0502040204020203" pitchFamily="34" charset="0"/>
              </a:rPr>
              <a:t>Tracks: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Segoe UI Historic" panose="020B0502040204020203" pitchFamily="34" charset="0"/>
              </a:rPr>
              <a:t>Hiring records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Segoe UI Historic" panose="020B0502040204020203" pitchFamily="34" charset="0"/>
              </a:rPr>
              <a:t>Payment status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Segoe UI Historic" panose="020B0502040204020203" pitchFamily="34" charset="0"/>
              </a:rPr>
              <a:t>Transaction model implemented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70ACE6-DD29-4341-ABC1-14D2545F7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70" y="3429000"/>
            <a:ext cx="8346141" cy="262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657E-5A88-49AF-B46A-E998B4C2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18" y="63110"/>
            <a:ext cx="7965461" cy="994164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Stage 7 – Payment Simulation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0588D-BC8A-48E8-9F12-BFB77D7DA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98565" y="1196227"/>
            <a:ext cx="3397435" cy="1125971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“Pay Now” button added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Status updated: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Assigned → Completed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7C9E3-0DB6-4C61-B72D-89CF9386B7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EA118B-0AAA-4606-8287-AF5D3D1F6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406" y="2637377"/>
            <a:ext cx="7163683" cy="225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69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EFE02-670F-401A-802D-D7D7CBAE0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915" y="92021"/>
            <a:ext cx="5236391" cy="1201844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Review &amp; Rating System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183156-A8C6-40B6-8DB1-771910ECFE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3D8B4-C466-4B10-BE2B-548251F39A7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575915" y="1530465"/>
            <a:ext cx="7043618" cy="2233233"/>
          </a:xfrm>
        </p:spPr>
        <p:txBody>
          <a:bodyPr>
            <a:norm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Employers can: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Rate workers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Give feedback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Builds worker credibility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60CE5B-565B-440C-9311-23079FF92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198" y="2737498"/>
            <a:ext cx="6585572" cy="16279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1DA27F-062D-4483-84F7-CDF6456581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206" t="25114" r="32648" b="12754"/>
          <a:stretch/>
        </p:blipFill>
        <p:spPr>
          <a:xfrm>
            <a:off x="4407975" y="4556571"/>
            <a:ext cx="2520085" cy="18625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0CA084-E3FB-4681-A121-15FD9B3B3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0704" y="4499866"/>
            <a:ext cx="2338804" cy="188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88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8446D-90F6-46C8-A809-F1A58DACC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646" y="-680400"/>
            <a:ext cx="7796464" cy="1222385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Worker Dashboard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C709F0-1D89-410B-988F-907B586329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28EE8-F9BA-45BD-B3E8-5DA99B6C8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625" y="692943"/>
            <a:ext cx="3128682" cy="2313796"/>
          </a:xfrm>
        </p:spPr>
        <p:txBody>
          <a:bodyPr>
            <a:normAutofit/>
          </a:bodyPr>
          <a:lstStyle/>
          <a:p>
            <a:r>
              <a:rPr lang="en-US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Overview :</a:t>
            </a:r>
          </a:p>
          <a:p>
            <a:r>
              <a:rPr lang="en-US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Worker Dashboard provides a personalized interface where workers can manage their profile, view assigned jobs, track earnings, and monitor their performance.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AA4570-D221-4F27-9EAC-002AB4D0E3C4}"/>
              </a:ext>
            </a:extLst>
          </p:cNvPr>
          <p:cNvSpPr txBox="1"/>
          <p:nvPr/>
        </p:nvSpPr>
        <p:spPr>
          <a:xfrm>
            <a:off x="273425" y="2826127"/>
            <a:ext cx="404756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Key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Dashboard Summary Cards: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Displays total assigned jobs, expected earnings, and verification status.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Profile Information Panel: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Shows worker details including skills, experience, rating, phone number, and risk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Assigned Jobs Section: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Lists all active jobs with details such as job title, location, budget, and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Reviews &amp; Ratings System: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Displays feedback and ratings from employers to build credibility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FB7429-FA71-4096-BB28-AB11FCE3D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342" y="548690"/>
            <a:ext cx="6113033" cy="576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76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170D-416E-4376-B2FF-FB627DF2B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87" y="0"/>
            <a:ext cx="7796464" cy="1222385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Data Validation &amp; Error Handling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27E4F6-DEE5-4396-AFDF-3E7E527F3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6105E-9F96-4614-8090-261F8144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8919" y="1796522"/>
            <a:ext cx="3576918" cy="1820737"/>
          </a:xfrm>
        </p:spPr>
        <p:txBody>
          <a:bodyPr>
            <a:noAutofit/>
          </a:bodyPr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Backend validation added: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Prevent invalid inputs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Duplicate prevention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User-friendly error messages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414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A165-35E8-4F4C-96F6-19CADDADD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3190" y="-9526"/>
            <a:ext cx="10511627" cy="1012785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System Integration &amp; Testing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A3BB8-161F-4829-8DDF-73ADBC3AF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00444" y="1554067"/>
            <a:ext cx="4612851" cy="3313769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 modules integrated: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Registration 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Verification 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Matching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Hiring 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Payment 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End-to-end workflow tested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346C5-507F-4507-9328-26C5645496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84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526C4-3B9B-4FC4-B9EE-16AB5BB0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716" y="-324550"/>
            <a:ext cx="9879437" cy="980844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 Tools &amp; Technologies Used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E3B2C-02BD-4AF2-BF58-76B36176FF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18117" y="821111"/>
            <a:ext cx="5325365" cy="5485266"/>
          </a:xfrm>
        </p:spPr>
        <p:txBody>
          <a:bodyPr/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Frontend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HTML, 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Tailwind CSS → UI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JavaScript → Dynamic interaction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Backend: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Python (Flask)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Routing &amp; API handling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Database: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SQLite (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SQLAlchemy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ORM)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AI Logic: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Matching algorithm (custom logic)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Development Tools: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VS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Git &amp; GitHub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FF9D1-3E95-4C38-9EFF-48948E8056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F593B-BB24-4AB5-9529-D2224B129E37}"/>
              </a:ext>
            </a:extLst>
          </p:cNvPr>
          <p:cNvSpPr txBox="1"/>
          <p:nvPr/>
        </p:nvSpPr>
        <p:spPr>
          <a:xfrm>
            <a:off x="6840070" y="1247017"/>
            <a:ext cx="39486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Architecture :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Frontend → UI (HTML, Tailwind) Backend → Flask routes 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Database → SQLite Matching Module → Services layer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10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D62E-8E4D-4430-8066-44FE32C7C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705" y="268380"/>
            <a:ext cx="9875463" cy="999746"/>
          </a:xfrm>
        </p:spPr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</a:rPr>
              <a:t>Conclusion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A3236-BEBC-4F53-A585-E1EBCE60E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67623" y="2336915"/>
            <a:ext cx="6499742" cy="23810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SafeHire</a:t>
            </a:r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successfully developed as a complete hiring workflow system</a:t>
            </a:r>
          </a:p>
          <a:p>
            <a:pPr marL="0" indent="0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Ensures: </a:t>
            </a:r>
          </a:p>
          <a:p>
            <a:pPr marL="0" indent="0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Worker trust </a:t>
            </a:r>
          </a:p>
          <a:p>
            <a:pPr marL="0" indent="0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Efficient hiring </a:t>
            </a:r>
          </a:p>
          <a:p>
            <a:pPr marL="0" indent="0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Structured transactions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D295A-450C-4ABE-A792-521578CE03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74454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{9F930100-7B86-471D-8B3B-28519E1775B9}TF8a9b5915-b8c7-461e-8cdd-693d48b5e32371f7b7e2_win32-4bf0b9a2ea37</Template>
  <TotalTime>181</TotalTime>
  <Words>780</Words>
  <Application>Microsoft Office PowerPoint</Application>
  <PresentationFormat>Widescreen</PresentationFormat>
  <Paragraphs>155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Black</vt:lpstr>
      <vt:lpstr>Calibri</vt:lpstr>
      <vt:lpstr>inherit</vt:lpstr>
      <vt:lpstr>Sabon Next LT</vt:lpstr>
      <vt:lpstr>Segoe UI Historic</vt:lpstr>
      <vt:lpstr>Wingdings</vt:lpstr>
      <vt:lpstr>Custom</vt:lpstr>
      <vt:lpstr>SafeHire – An AI-Powered Service Hiring Platform</vt:lpstr>
      <vt:lpstr>Project Overview</vt:lpstr>
      <vt:lpstr>Development Stages Overview</vt:lpstr>
      <vt:lpstr>Worker Login System</vt:lpstr>
      <vt:lpstr>Worker Dashboard</vt:lpstr>
      <vt:lpstr>Stage 1 – Worker Registration System</vt:lpstr>
      <vt:lpstr>Admin Dashboard</vt:lpstr>
      <vt:lpstr>Stage 2 – Worker Verification System</vt:lpstr>
      <vt:lpstr>Employer Sign Up</vt:lpstr>
      <vt:lpstr>Stage 3 – Job Posting System</vt:lpstr>
      <vt:lpstr>Stage 4 – AI-Based Job Matching</vt:lpstr>
      <vt:lpstr>Stage 5 – Hiring Workflow</vt:lpstr>
      <vt:lpstr>Stage 6 – Transaction System</vt:lpstr>
      <vt:lpstr>Stage 7 – Payment Simulation</vt:lpstr>
      <vt:lpstr>Review &amp; Rating System</vt:lpstr>
      <vt:lpstr>Worker Dashboard</vt:lpstr>
      <vt:lpstr>Data Validation &amp; Error Handling</vt:lpstr>
      <vt:lpstr>System Integration &amp; Testing</vt:lpstr>
      <vt:lpstr> Tools &amp; Technologies Used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SafeHire – An AI-Powered Service Hiring Platform</dc:title>
  <dc:subject/>
  <dc:creator>Afrid Khan</dc:creator>
  <cp:lastModifiedBy>Afrid Khan</cp:lastModifiedBy>
  <cp:revision>8</cp:revision>
  <dcterms:created xsi:type="dcterms:W3CDTF">2026-04-05T18:07:55Z</dcterms:created>
  <dcterms:modified xsi:type="dcterms:W3CDTF">2026-04-05T21:12:18Z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